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61104" y="548640"/>
            <a:ext cx="365760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61104" y="6217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D4ED8"/>
                </a:solidFill>
                <a:latin typeface="Calibri"/>
              </a:defRPr>
            </a:pPr>
            <a:r>
              <a:t>MANIPAL UNIVERSITY JAIPUR  •  DEPARTMENT OF CSE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748B"/>
                </a:solidFill>
                <a:latin typeface="Calibri"/>
              </a:defRPr>
            </a:pPr>
            <a:r>
              <a:t>DATA STRUCTURES &amp; ALGORITHMS (DSA) — COURSEWORK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F172A"/>
                </a:solidFill>
                <a:latin typeface="Calibri"/>
              </a:defRPr>
            </a:pPr>
            <a:r>
              <a:t>Burkhard-Keller Metric Space Image Deduplicator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99971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4155"/>
                </a:solidFill>
                <a:latin typeface="Calibri"/>
              </a:defRPr>
            </a:pPr>
            <a:r>
              <a:t>Sub-Linear Near-Duplicate Detection, Triangle Inequality Pruning, and</a:t>
            </a:r>
            <a:br/>
            <a:r>
              <a:t>Multi-Channel Perceptual Hash Clustering in Discrete Metric Spaces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324612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45920" y="3246120"/>
            <a:ext cx="265176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33832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D4ED8"/>
                </a:solidFill>
                <a:latin typeface="Calibri"/>
              </a:defRPr>
            </a:pPr>
            <a:r>
              <a:t>100-Bit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81304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Fused Perceptual Hash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05079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64-bit spatial + 36-bit HSV color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324612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80" y="3246120"/>
            <a:ext cx="265176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33832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59669"/>
                </a:solidFill>
                <a:latin typeface="Calibri"/>
              </a:defRPr>
            </a:pPr>
            <a:r>
              <a:t>O(N¹⁺ᵅ)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81304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Sub-Quadratic Clustering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405079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BK-Tree Range Search + Disjoint Set Union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324612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3246120"/>
            <a:ext cx="2651760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33832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338CA"/>
                </a:solidFill>
                <a:latin typeface="Calibri"/>
              </a:defRPr>
            </a:pPr>
            <a:r>
              <a:t>41% – 89%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381304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Search Space Pruned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405079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Strict Triangle Inequality Bounds in O(1)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4663440"/>
            <a:ext cx="7619695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0" y="4846320"/>
            <a:ext cx="7071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Candidate: Soumyshiv Das    |    Registration Number: 2502051963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5230368"/>
            <a:ext cx="70710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Calibri"/>
              </a:defRPr>
            </a:pPr>
            <a:r>
              <a:t>B.Tech in Computer Science &amp; Engineering  •  Academic Year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5559552"/>
            <a:ext cx="70710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D4ED8"/>
                </a:solidFill>
                <a:latin typeface="Calibri"/>
              </a:defRPr>
            </a:pPr>
            <a:r>
              <a:t>Repository: https://github.com/soumyshiv/dsa-bktree-image-deduplicator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5833872"/>
            <a:ext cx="70710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Deliverables: Project Report (PDF, 21 Pages)  •  Presentation (PPTX, 12 Slides)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011680" cy="256032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D4ED8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389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SECTION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Calibri"/>
              </a:defRPr>
            </a:pPr>
            <a:r>
              <a:t>Presentation Roadmap &amp; Agenda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1206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512064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600200"/>
            <a:ext cx="50292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550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D4ED8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581912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Problem Definition &amp; Motivation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856232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Cryptographic avalanche vs perceptual similarity in big media collections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377440"/>
            <a:ext cx="51206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377440"/>
            <a:ext cx="512064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560320"/>
            <a:ext cx="50292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61518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D4ED8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542032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Metric Spaces &amp; Discrete Hamming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816352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4 metric space axioms and distance properties in discrete spaces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337560"/>
            <a:ext cx="51206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337560"/>
            <a:ext cx="512064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520440"/>
            <a:ext cx="50292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57530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D4ED8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502152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100-Bit Perceptual Feature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776472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Fusing 64-bit spatial luminance kernel with 36-bit HSV color descriptor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297680"/>
            <a:ext cx="51206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297680"/>
            <a:ext cx="512064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4480560"/>
            <a:ext cx="50292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53542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D4ED8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462272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Burkhard-Keller Tree Architecture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736592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Node topology, collision bucket lists, and O(N log N) build procedure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257800"/>
            <a:ext cx="51206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5257800"/>
            <a:ext cx="512064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4400" y="5440680"/>
            <a:ext cx="50292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9554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D4ED8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5422392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Triangle Inequality Pruning Theorem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5696712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Mathematical proof of [d(Q,P)-τ, d(Q,P)+τ] rejection bounds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39535" y="1417320"/>
            <a:ext cx="51206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39535" y="1417320"/>
            <a:ext cx="5120640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22415" y="1600200"/>
            <a:ext cx="5029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22415" y="16550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338CA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62495" y="1581912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Global Clustering via Disjoint Set Union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62495" y="1856232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Path compression + union-by-rank clustering in O(N^(1+α)) time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39535" y="2377440"/>
            <a:ext cx="51206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39535" y="2377440"/>
            <a:ext cx="5120640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22415" y="2560320"/>
            <a:ext cx="5029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22415" y="261518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338CA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62495" y="2542032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Automated Master Selection &amp; Safe Culling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62495" y="2816352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Tie-breaker heuristics and soft-delete quarantine recycle bin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39535" y="3337560"/>
            <a:ext cx="51206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39535" y="3337560"/>
            <a:ext cx="5120640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22415" y="3520440"/>
            <a:ext cx="5029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22415" y="357530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338CA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2495" y="3502152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System Architecture &amp; High-Performance Core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62495" y="3776472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Multithreaded ingestion, disk cache, and ThreadingHTTPServer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39535" y="4297680"/>
            <a:ext cx="51206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39535" y="4297680"/>
            <a:ext cx="5120640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522415" y="4480560"/>
            <a:ext cx="5029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22415" y="453542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338CA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62495" y="4462272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Interactive SVG Topology Visualizer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62495" y="4736592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Dynamic re-rooting, step-by-step simulator, and difference heatmap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39535" y="5257800"/>
            <a:ext cx="51206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39535" y="5257800"/>
            <a:ext cx="5120640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522415" y="5440680"/>
            <a:ext cx="5029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22415" y="549554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338CA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62495" y="5422392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Empirical Profiling &amp; Formal Verification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62495" y="5696712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Benchmarks across N=50 to 1,000 and 1,000-triad metric verification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011680" cy="256032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D4ED8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389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SECTION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Calibri"/>
              </a:defRPr>
            </a:pPr>
            <a:r>
              <a:t>Problem Definition: Exact Hashes vs Metric Spaces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120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120640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1D48"/>
                </a:solidFill>
                <a:latin typeface="Calibri"/>
              </a:defRPr>
            </a:pPr>
            <a:r>
              <a:t>Why Cryptographic Hashes Fail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6596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334155"/>
                </a:solidFill>
                <a:latin typeface="Calibri"/>
              </a:defRPr>
              <a:buClr>
                <a:srgbClr val="E11D48"/>
              </a:buClr>
              <a:buChar char="●"/>
            </a:pPr>
            <a:r>
              <a:t>Cryptographic functions (MD5, SHA-256) enforce Avalanche Effect: a 1-bit pixel change flips ~50% of the digest bits.</a:t>
            </a:r>
          </a:p>
          <a:p>
            <a:pPr>
              <a:spcAft>
                <a:spcPts val="700"/>
              </a:spcAft>
              <a:defRPr sz="1100">
                <a:solidFill>
                  <a:srgbClr val="334155"/>
                </a:solidFill>
                <a:latin typeface="Calibri"/>
              </a:defRPr>
              <a:buClr>
                <a:srgbClr val="E11D48"/>
              </a:buClr>
              <a:buChar char="●"/>
            </a:pPr>
            <a:r>
              <a:t>Zero resilience to common transformations: re-encoding (PNG to JPEG), slight color balance adjustments, downscaling, or subtle watermarks.</a:t>
            </a:r>
          </a:p>
          <a:p>
            <a:pPr>
              <a:spcAft>
                <a:spcPts val="700"/>
              </a:spcAft>
              <a:defRPr sz="1100">
                <a:solidFill>
                  <a:srgbClr val="334155"/>
                </a:solidFill>
                <a:latin typeface="Calibri"/>
              </a:defRPr>
              <a:buClr>
                <a:srgbClr val="E11D48"/>
              </a:buClr>
              <a:buChar char="●"/>
            </a:pPr>
            <a:r>
              <a:t>Produces catastrophic False Negatives: near-identical images produce orthogonal hashes.</a:t>
            </a:r>
          </a:p>
          <a:p>
            <a:pPr>
              <a:spcAft>
                <a:spcPts val="700"/>
              </a:spcAft>
              <a:defRPr sz="1100">
                <a:solidFill>
                  <a:srgbClr val="334155"/>
                </a:solidFill>
                <a:latin typeface="Calibri"/>
              </a:defRPr>
              <a:buClr>
                <a:srgbClr val="E11D48"/>
              </a:buClr>
              <a:buChar char="●"/>
            </a:pPr>
            <a:r>
              <a:t>Naive Near-Duplicate Linear Scan: Comparing query against N items requires O(N) operations. Clustering requires all-pairs O(N²) comparisons.</a:t>
            </a:r>
          </a:p>
          <a:p>
            <a:pPr>
              <a:spcAft>
                <a:spcPts val="700"/>
              </a:spcAft>
              <a:defRPr sz="1100">
                <a:solidFill>
                  <a:srgbClr val="334155"/>
                </a:solidFill>
                <a:latin typeface="Calibri"/>
              </a:defRPr>
              <a:buClr>
                <a:srgbClr val="E11D48"/>
              </a:buClr>
              <a:buChar char="●"/>
            </a:pPr>
            <a:r>
              <a:t>Scalability Wall: A library of 100,000 photos requires 5,000,000,000 distance checks — computationally impossible without spatial indexing.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39535" y="1371600"/>
            <a:ext cx="5120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39535" y="1371600"/>
            <a:ext cx="512064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3855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Our Metric Space &amp; BK-Tree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3855" y="196596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334155"/>
                </a:solidFill>
                <a:latin typeface="Calibri"/>
              </a:defRPr>
              <a:buClr>
                <a:srgbClr val="059669"/>
              </a:buClr>
              <a:buChar char="●"/>
            </a:pPr>
            <a:r>
              <a:t>Feature Projection: Maps each image into a discrete binary metric space M = {0, 1}¹⁰⁰ using multi-channel perceptual hashing.</a:t>
            </a:r>
          </a:p>
          <a:p>
            <a:pPr>
              <a:spcAft>
                <a:spcPts val="700"/>
              </a:spcAft>
              <a:defRPr sz="1100">
                <a:solidFill>
                  <a:srgbClr val="334155"/>
                </a:solidFill>
                <a:latin typeface="Calibri"/>
              </a:defRPr>
              <a:buClr>
                <a:srgbClr val="059669"/>
              </a:buClr>
              <a:buChar char="●"/>
            </a:pPr>
            <a:r>
              <a:t>Hamming Distance Metric: Satisfies all 4 metric axioms unconditionally (Non-negativity, Identity, Symmetry, Triangle Inequality).</a:t>
            </a:r>
          </a:p>
          <a:p>
            <a:pPr>
              <a:spcAft>
                <a:spcPts val="700"/>
              </a:spcAft>
              <a:defRPr sz="1100">
                <a:solidFill>
                  <a:srgbClr val="334155"/>
                </a:solidFill>
                <a:latin typeface="Calibri"/>
              </a:defRPr>
              <a:buClr>
                <a:srgbClr val="059669"/>
              </a:buClr>
              <a:buChar char="●"/>
            </a:pPr>
            <a:r>
              <a:t>Geometric Branch Pruning: BK-Tree uses Triangle Inequality as an oracle to prune entire subtrees in O(1) without computing descendant distances.</a:t>
            </a:r>
          </a:p>
          <a:p>
            <a:pPr>
              <a:spcAft>
                <a:spcPts val="700"/>
              </a:spcAft>
              <a:defRPr sz="1100">
                <a:solidFill>
                  <a:srgbClr val="334155"/>
                </a:solidFill>
                <a:latin typeface="Calibri"/>
              </a:defRPr>
              <a:buClr>
                <a:srgbClr val="059669"/>
              </a:buClr>
              <a:buChar char="●"/>
            </a:pPr>
            <a:r>
              <a:t>Sub-Linear Range Search: Achieves O(N^α) query complexity (where α &lt; 1), pruning 41.2% to 89.4% of the candidate space.</a:t>
            </a:r>
          </a:p>
          <a:p>
            <a:pPr>
              <a:spcAft>
                <a:spcPts val="700"/>
              </a:spcAft>
              <a:defRPr sz="1100">
                <a:solidFill>
                  <a:srgbClr val="334155"/>
                </a:solidFill>
                <a:latin typeface="Calibri"/>
              </a:defRPr>
              <a:buClr>
                <a:srgbClr val="059669"/>
              </a:buClr>
              <a:buChar char="●"/>
            </a:pPr>
            <a:r>
              <a:t>Sub-Quadratic Global Clustering: Integrates Disjoint Set Union (DSU) to discover connected duplicate components in O(N^(1+α)) time.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86400"/>
            <a:ext cx="10728655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596128"/>
            <a:ext cx="101800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D4ED8"/>
                </a:solidFill>
                <a:latin typeface="Calibri"/>
              </a:defRPr>
            </a:pPr>
            <a:r>
              <a:t>Core Scientific Takeaway: Exact matching requires exact equality (d = 0). Near-duplicate image retrieval is intrinsically a Metric Range Query: find all images X where d(Q, X) ≤ τ. Indexing discrete metric spaces eliminates O(N²) quadratic bottlenecks.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011680" cy="256032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D4ED8"/>
                </a:solidFill>
                <a:latin typeface="Calibri"/>
              </a:defRPr>
            </a:pPr>
            <a:r>
              <a:t>MATHEMATICS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389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SECTION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Calibri"/>
              </a:defRPr>
            </a:pPr>
            <a:r>
              <a:t>Theoretical Foundations: Metric Spaces &amp; Hamming 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120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12064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Axiom 1: Non-Negativity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1847088"/>
            <a:ext cx="2926080" cy="32004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74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D4ED8"/>
                </a:solidFill>
                <a:latin typeface="Calibri"/>
              </a:defRPr>
            </a:pPr>
            <a:r>
              <a:t>d(x, y) ≥ 0,  ∀ x, y ∈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24028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The distance between two images is strictly non-negative. Negative distance is mathematically undefined in metric geometry.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9535" y="1371600"/>
            <a:ext cx="5120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9535" y="1371600"/>
            <a:ext cx="5120640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8135" y="15361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Axiom 2: Identity of Indiscernibles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68135" y="1847088"/>
            <a:ext cx="2926080" cy="32004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8135" y="1874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338CA"/>
                </a:solidFill>
                <a:latin typeface="Calibri"/>
              </a:defRPr>
            </a:pPr>
            <a:r>
              <a:t>d(x, y) = 0  ⟺  x = 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8135" y="224028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Two images have distance zero if and only if their 100-bit feature representations are identical bit-for-bit.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154680"/>
            <a:ext cx="5120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154680"/>
            <a:ext cx="512064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3192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Axiom 3: Symmetry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3630168"/>
            <a:ext cx="2926080" cy="32004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657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59669"/>
                </a:solidFill>
                <a:latin typeface="Calibri"/>
              </a:defRPr>
            </a:pPr>
            <a:r>
              <a:t>d(x, y) = d(y, x),  ∀ x, y ∈ 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0233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Distance from image x to y equals distance from y to x. Near-duplicate similarity is strictly bidirectional.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39535" y="3154680"/>
            <a:ext cx="5120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39535" y="3154680"/>
            <a:ext cx="51206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8135" y="33192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Axiom 4: Triangle Inequality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68135" y="3630168"/>
            <a:ext cx="2926080" cy="32004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8135" y="3657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97706"/>
                </a:solidFill>
                <a:latin typeface="Calibri"/>
              </a:defRPr>
            </a:pPr>
            <a:r>
              <a:t>d(x, z) ≤ d(x, y) + d(y, z),  ∀ x, y, z ∈ 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8135" y="40233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The direct path between two images is always the shortest. Fundamental geometric bound enabling O(1) branch pruning.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120640"/>
            <a:ext cx="10728655" cy="118872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230368"/>
            <a:ext cx="10180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Calibri"/>
              </a:defRPr>
            </a:pPr>
            <a:r>
              <a:t>Discrete Hamming Metric on {0, 1}¹⁰⁰ and Programmatic Proof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532120"/>
            <a:ext cx="101800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• Distance Formula: d_H(u, v) = popcount(u ⊕ v) = Σ (u[i] ⊕ v[i])  ∈  {0, 1, 2, ..., 100}.</a:t>
            </a:r>
            <a:br/>
            <a:r>
              <a:t>• Discrete Edge Partitioning: Unlike continuous Euclidean spaces (where k-d trees degrade due to curse of dimensionality when D &gt; 15),</a:t>
            </a:r>
            <a:br/>
            <a:r>
              <a:t>  discrete Hamming spaces partition children into exact integer distance buckets d ∈ [1, 100].</a:t>
            </a:r>
            <a:br/>
            <a:r>
              <a:t>• Empirical Proof: Automated property-based test verified 1,000 randomized triads (x, y, z) — 100% pass rate, 0 triangle inequality violations.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011680" cy="256032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D4ED8"/>
                </a:solidFill>
                <a:latin typeface="Calibri"/>
              </a:defRPr>
            </a:pPr>
            <a:r>
              <a:t>FEATURE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389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SECTION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Calibri"/>
              </a:defRPr>
            </a:pPr>
            <a:r>
              <a:t>Multi-Channel Perceptual Feature Engineering (100-Bit)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72865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Channel Component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 Extraction Method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Width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Invariance / Discriminative Property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Spatial Luminance Kernel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8×8 Bicubic Downsampling + Mean Intensity Thresholding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64 Bits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Invariant to uniform gamma, brightness, scaling, and compression artifacts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Hue (H) Angular Histogram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12-Bin 30° Quantized Circular Color Distribution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12 Bits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Differentiates color schemes; prevents grayscale false-positive collisions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Saturation (S) Histogram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12-Bin Color Purity &amp; Saturation Profiling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12 Bits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Distinguishes vibrant, saturated scenes from muted or monochrome tones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Value (V) Histogram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12-Bin Dynamic Range &amp; Exposure Histogram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12 Bits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Distinguishes high-key, low-key, and high-contrast lighting palettes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Fused Feature Vector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Concatenation: H_spatial || H_hue || H_sat || H_val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100 Bits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Complete Discrete Metric Space M = {0, 1}¹⁰⁰ under Hamming Distance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3657600"/>
            <a:ext cx="332841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657600"/>
            <a:ext cx="3328416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2962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D4ED8"/>
                </a:solidFill>
                <a:latin typeface="Calibri"/>
              </a:defRPr>
            </a:pPr>
            <a:r>
              <a:t>64-Bit Spatial Kernel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29626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1D4ED8"/>
              </a:buClr>
              <a:buChar char="●"/>
            </a:pPr>
            <a:r>
              <a:t>Converts input RGB image to 8-bit luminance grayscale.</a:t>
            </a:r>
          </a:p>
          <a:p>
            <a:pPr>
              <a:spcAft>
                <a:spcPts val="5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1D4ED8"/>
              </a:buClr>
              <a:buChar char="●"/>
            </a:pPr>
            <a:r>
              <a:t>Resizes to 8×8 matrix via bicubic interpolation.</a:t>
            </a:r>
          </a:p>
          <a:p>
            <a:pPr>
              <a:spcAft>
                <a:spcPts val="5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1D4ED8"/>
              </a:buClr>
              <a:buChar char="●"/>
            </a:pPr>
            <a:r>
              <a:t>Computes mean intensity: μ = (1/64) Σ I(x, y).</a:t>
            </a:r>
          </a:p>
          <a:p>
            <a:pPr>
              <a:spcAft>
                <a:spcPts val="5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1D4ED8"/>
              </a:buClr>
              <a:buChar char="●"/>
            </a:pPr>
            <a:r>
              <a:t>Thresholds each pixel: bit = 1 if I(x, y) &gt; μ else 0.</a:t>
            </a:r>
          </a:p>
          <a:p>
            <a:pPr>
              <a:spcAft>
                <a:spcPts val="5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1D4ED8"/>
              </a:buClr>
              <a:buChar char="●"/>
            </a:pPr>
            <a:r>
              <a:t>Captures gross structural frequencies while discarding high-frequency noise.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25696" y="3657600"/>
            <a:ext cx="332841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25696" y="3657600"/>
            <a:ext cx="3328416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3822191"/>
            <a:ext cx="2962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338CA"/>
                </a:solidFill>
                <a:latin typeface="Calibri"/>
              </a:defRPr>
            </a:pPr>
            <a:r>
              <a:t>36-Bit HSV Color Descriptor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4160520"/>
            <a:ext cx="29626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4338CA"/>
              </a:buClr>
              <a:buChar char="●"/>
            </a:pPr>
            <a:r>
              <a:t>Standard pHash collapses to grayscale — two photos with identical shape but opposite colors collide!</a:t>
            </a:r>
          </a:p>
          <a:p>
            <a:pPr>
              <a:spcAft>
                <a:spcPts val="5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4338CA"/>
              </a:buClr>
              <a:buChar char="●"/>
            </a:pPr>
            <a:r>
              <a:t>Converts image to cylindrical HSV color space.</a:t>
            </a:r>
          </a:p>
          <a:p>
            <a:pPr>
              <a:spcAft>
                <a:spcPts val="5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4338CA"/>
              </a:buClr>
              <a:buChar char="●"/>
            </a:pPr>
            <a:r>
              <a:t>Quantizes Hue (0-360°), Saturation (0-1), and Value (0-1) into 12 discrete bins each.</a:t>
            </a:r>
          </a:p>
          <a:p>
            <a:pPr>
              <a:spcAft>
                <a:spcPts val="5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4338CA"/>
              </a:buClr>
              <a:buChar char="●"/>
            </a:pPr>
            <a:r>
              <a:t>Binarizes histograms using median-split thresholds.</a:t>
            </a:r>
          </a:p>
          <a:p>
            <a:pPr>
              <a:spcAft>
                <a:spcPts val="5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4338CA"/>
              </a:buClr>
              <a:buChar char="●"/>
            </a:pPr>
            <a:r>
              <a:t>Eliminates grayscale false-positive cluster mergers.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9872" y="3657600"/>
            <a:ext cx="332841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9872" y="3657600"/>
            <a:ext cx="3328416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3822191"/>
            <a:ext cx="2962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Calibri"/>
              </a:defRPr>
            </a:pPr>
            <a:r>
              <a:t>High-Speed Bitstring Packing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4160520"/>
            <a:ext cx="29626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059669"/>
              </a:buClr>
              <a:buChar char="●"/>
            </a:pPr>
            <a:r>
              <a:t>100 bits packed into efficient Python arbitrary-precision integers or 16-byte buffers.</a:t>
            </a:r>
          </a:p>
          <a:p>
            <a:pPr>
              <a:spcAft>
                <a:spcPts val="5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059669"/>
              </a:buClr>
              <a:buChar char="●"/>
            </a:pPr>
            <a:r>
              <a:t>Distance computed via hardware bitwise XOR and popcount: popcount(u ^ v).</a:t>
            </a:r>
          </a:p>
          <a:p>
            <a:pPr>
              <a:spcAft>
                <a:spcPts val="5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059669"/>
              </a:buClr>
              <a:buChar char="●"/>
            </a:pPr>
            <a:r>
              <a:t>Executes millions of distance comparisons per second on standard CPU hardware.</a:t>
            </a:r>
          </a:p>
          <a:p>
            <a:pPr>
              <a:spcAft>
                <a:spcPts val="5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059669"/>
              </a:buClr>
              <a:buChar char="●"/>
            </a:pPr>
            <a:r>
              <a:t>Warm disk cache (.bktree_cache.json) allows sub-50ms reload for 1,000 images.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011680" cy="256032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D4ED8"/>
                </a:solidFill>
                <a:latin typeface="Calibri"/>
              </a:defRPr>
            </a:pPr>
            <a:r>
              <a:t>DATA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389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SECTION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Calibri"/>
              </a:defRPr>
            </a:pPr>
            <a:r>
              <a:t>Burkhard-Keller Metric Tree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120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12064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4ED8"/>
                </a:solidFill>
                <a:latin typeface="Calibri"/>
              </a:defRPr>
            </a:pPr>
            <a:r>
              <a:t>BKNode Anatomy &amp; Collision Lists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2024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1D4ED8"/>
              </a:buClr>
              <a:buChar char="●"/>
            </a:pPr>
            <a:r>
              <a:t>Node Fields: Each node holds (1) img_hash: 100-bit feature pivot, (2) paths: collision list of filepaths where d = 0, and (3) children: HashMap&lt;int, BKNode&gt; mapping edge distance d ∈ [1, 100] to child nodes.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1D4ED8"/>
              </a:buClr>
              <a:buChar char="●"/>
            </a:pPr>
            <a:r>
              <a:t>Insertion Algorithm: To insert new hash H: (1) If tree empty, create root. (2) Otherwise, compute d = d_H(curr.hash, H). (3) If d == 0, append path to curr.paths (handles exact duplicates without tree bloating). (4) If children[d] exists, recurse curr = children[d]. (5) Else, attach new child at edge d.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1D4ED8"/>
              </a:buClr>
              <a:buChar char="●"/>
            </a:pPr>
            <a:r>
              <a:t>Collision Handling: Multiple identical images (e.g., exact clones, camera bursts) share identical hash. Storing them in a collision bucket prevents edge collisions and guarantees tree invariants.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1D4ED8"/>
              </a:buClr>
              <a:buChar char="●"/>
            </a:pPr>
            <a:r>
              <a:t>Balanced Height: Empirical tree height grows logarithmically: Height = 4 at N=50, Height = 6 at N=1,000.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39535" y="1371600"/>
            <a:ext cx="5120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39535" y="1371600"/>
            <a:ext cx="5120640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3855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338CA"/>
                </a:solidFill>
                <a:latin typeface="Calibri"/>
              </a:defRPr>
            </a:pPr>
            <a:r>
              <a:t>Algorithmic Complexity Comparison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522415" y="1965960"/>
          <a:ext cx="47548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Operation</a:t>
                      </a:r>
                    </a:p>
                  </a:txBody>
                  <a:tcPr anchor="ctr"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Naive Linear Scan</a:t>
                      </a:r>
                    </a:p>
                  </a:txBody>
                  <a:tcPr anchor="ctr"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BK-Tree (Average)</a:t>
                      </a:r>
                    </a:p>
                  </a:txBody>
                  <a:tcPr anchor="ctr"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BK-Tree (Worst)</a:t>
                      </a:r>
                    </a:p>
                  </a:txBody>
                  <a:tcPr anchor="ctr">
                    <a:solidFill>
                      <a:srgbClr val="4338C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Tree Build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O(1) (Unindexed)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O(N log 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O(N²) (Degenerate)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Range Query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O(N) (Exhaustive)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O(N^α), α &lt; 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O(N) (τ → 100)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Global Clustering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O(N²) (All-pairs)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O(N^(1+α))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O(N²)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Auxiliary Memory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O(N) Array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O(N) Tree Nodes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O(N) Tree Nodes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613855" y="3794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Tree Optimization Strategies Implemented: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3855" y="40690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4338CA"/>
              </a:buClr>
              <a:buChar char="●"/>
            </a:pPr>
            <a:r>
              <a:t>Medoid Pivot Balancing: Root selected near metric median to minimize branch skewness.</a:t>
            </a:r>
          </a:p>
          <a:p>
            <a:pPr>
              <a:spcAft>
                <a:spcPts val="5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4338CA"/>
              </a:buClr>
              <a:buChar char="●"/>
            </a:pPr>
            <a:r>
              <a:t>Iterative Search Queue: Breadth-first traversal via deque eliminates Python recursion stack limits.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486400"/>
            <a:ext cx="10728655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596128"/>
            <a:ext cx="101800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D4ED8"/>
                </a:solidFill>
                <a:latin typeface="Calibri"/>
              </a:defRPr>
            </a:pPr>
            <a:r>
              <a:t>Key Complexity Milestone: At N = 100,000 images, naive clustering takes ~5,000,000,000 operations. The BK-Tree + DSU architecture reduces this by over 80%, transforming an intractable quadratic bottleneck into a manageable sub-quadratic execution.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011680" cy="256032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D4ED8"/>
                </a:solidFill>
                <a:latin typeface="Calibri"/>
              </a:defRPr>
            </a:pPr>
            <a:r>
              <a:t>CORE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389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SECTION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Calibri"/>
              </a:defRPr>
            </a:pPr>
            <a:r>
              <a:t>Triangle Inequality Pruning: Theorem &amp; Proof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728655" cy="137160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481328"/>
            <a:ext cx="10180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Calibri"/>
              </a:defRPr>
            </a:pPr>
            <a:r>
              <a:t>THEOREM (Burkhard-Keller Metric Pruning Bounds)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783080"/>
            <a:ext cx="101800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Let (M, d) be a metric space. Let Q ∈ M be the search query, P ∈ M be the current tree pivot node, and τ be the search tolerance radius. Let C be a child node connected to P by an edge of weight d₂ = d(P, C). Then for any node X residing anywhere in the subtree rooted at C, a match d(Q, X) ≤ τ can exist ONLY IF:</a:t>
            </a:r>
            <a:br/>
            <a:br/>
            <a:r>
              <a:t>                                     d(Q, P) − τ  ≤  d(P, C)  ≤  d(Q, P) + 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926080"/>
            <a:ext cx="5120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512064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906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D4ED8"/>
                </a:solidFill>
                <a:latin typeface="Calibri"/>
              </a:defRPr>
            </a:pPr>
            <a:r>
              <a:t>Mathematical Proof Derivation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429000"/>
            <a:ext cx="4572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1. By Axiom 4 (Triangle Inequality):</a:t>
            </a:r>
            <a:br/>
            <a:r>
              <a:t>    d(Q, P) ≤ d(Q, X) + d(X, P)</a:t>
            </a:r>
            <a:br/>
            <a:r>
              <a:t>    ⟹  d(Q, X) ≥ d(Q, P) − d(X, P)                   [Eq. 1]</a:t>
            </a:r>
            <a:br/>
            <a:br/>
            <a:r>
              <a:t>2. By Symmetry and Triangle Inequality:</a:t>
            </a:r>
            <a:br/>
            <a:r>
              <a:t>    d(X, P) ≤ d(Q, X) + d(Q, P)</a:t>
            </a:r>
            <a:br/>
            <a:r>
              <a:t>    ⟹  d(Q, X) ≥ d(X, P) − d(Q, P)                   [Eq. 2]</a:t>
            </a:r>
            <a:br/>
            <a:br/>
            <a:r>
              <a:t>3. Combining Eq. 1 and Eq. 2 establishes the absolute bound:</a:t>
            </a:r>
            <a:br/>
            <a:r>
              <a:t>    d(Q, X) ≥ | d(Q, P) − d(X, P) |</a:t>
            </a:r>
            <a:br/>
            <a:br/>
            <a:r>
              <a:t>4. Substituting edge distance d₂ = d(P, C) = d(X, P):</a:t>
            </a:r>
            <a:br/>
            <a:r>
              <a:t>    | d(Q, P) − d₂ | ≤ τ   ⟹   −τ ≤ d(Q, P) − d₂ ≤ τ</a:t>
            </a:r>
            <a:br/>
            <a:r>
              <a:t>    ⟹   d(Q, P) − τ  ≤  d₂  ≤  d(Q, P) + τ        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39535" y="2926080"/>
            <a:ext cx="5120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39535" y="2926080"/>
            <a:ext cx="512064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3855" y="30906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Calibri"/>
              </a:defRPr>
            </a:pPr>
            <a:r>
              <a:t>Branch Pruning &amp; O(1) Elimination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3855" y="3429000"/>
            <a:ext cx="4572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059669"/>
              </a:buClr>
              <a:buChar char="●"/>
            </a:pPr>
            <a:r>
              <a:t>Rejection Bounds: Any child branch with edge weight d₂ &lt; d(Q, P) − τ or d₂ &gt; d(Q, P) + τ is guaranteed to contain ZERO matches.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059669"/>
              </a:buClr>
              <a:buChar char="●"/>
            </a:pPr>
            <a:r>
              <a:t>Zero Distance Computations: The algorithm prunes the entire subtree rooted at C without calculating distances for any of C's descendants.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059669"/>
              </a:buClr>
              <a:buChar char="●"/>
            </a:pPr>
            <a:r>
              <a:t>Iterative Filter Loop: In search(), testing min_edge ≤ edge_dist ≤ max_edge takes O(1) dictionary lookup per edge.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059669"/>
              </a:buClr>
              <a:buChar char="●"/>
            </a:pPr>
            <a:r>
              <a:t>Search Tolerance Sensitivity: At τ = 8 (strict near-duplicate), pruning eliminates up to 89.4% of all tree branches.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059669"/>
              </a:buClr>
              <a:buChar char="●"/>
            </a:pPr>
            <a:r>
              <a:t>Guaranteed Zero False Negatives: Because the triangle inequality is a mathematical theorem, not a heuristic, pruning is 100% exact.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011680" cy="256032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D4ED8"/>
                </a:solidFill>
                <a:latin typeface="Calibri"/>
              </a:defRPr>
            </a:pPr>
            <a:r>
              <a:t>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389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SECTION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Calibri"/>
              </a:defRPr>
            </a:pPr>
            <a:r>
              <a:t>Global Duplicate Clustering via Disjoint Set Union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120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12064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4ED8"/>
                </a:solidFill>
                <a:latin typeface="Calibri"/>
              </a:defRPr>
            </a:pPr>
            <a:r>
              <a:t>DSU with Path Compression &amp; Union-by-Rank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2024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1D4ED8"/>
              </a:buClr>
              <a:buChar char="●"/>
            </a:pPr>
            <a:r>
              <a:t>Independent Set Initialization: Each image in the collection is initially initialized as its own singleton disjoint set: parent[i] = i, rank[i] = 0.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1D4ED8"/>
              </a:buClr>
              <a:buChar char="●"/>
            </a:pPr>
            <a:r>
              <a:t>Pairwise Metric Range Queries: For each image i, query the BK-Tree for all neighbours within tolerance τ: neighbours = bktree.search(hash_i, τ).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1D4ED8"/>
              </a:buClr>
              <a:buChar char="●"/>
            </a:pPr>
            <a:r>
              <a:t>Union Operations: For every match j in neighbours where j &gt; i, invoke union(i, j) to merge their respective equivalence partitions.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1D4ED8"/>
              </a:buClr>
              <a:buChar char="●"/>
            </a:pPr>
            <a:r>
              <a:t>Path Compression in find(i): Flattens the tree by pointing traversed nodes directly to the root: parent[i] = find(parent[i]).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1D4ED8"/>
              </a:buClr>
              <a:buChar char="●"/>
            </a:pPr>
            <a:r>
              <a:t>Union by Rank: Attaches shallower trees under deeper roots to maintain logarithmic height bounds.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1D4ED8"/>
              </a:buClr>
              <a:buChar char="●"/>
            </a:pPr>
            <a:r>
              <a:t>Inverse Ackermann Time: Amortized complexity per operation is O(α(N)) ≈ O(1). Total clustering executes in sub-quadratic O(N^(1+α))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39535" y="1371600"/>
            <a:ext cx="5120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39535" y="1371600"/>
            <a:ext cx="51206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3855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Calibri"/>
              </a:defRPr>
            </a:pPr>
            <a:r>
              <a:t>Automated Master Selection &amp; Safe Culling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3855" y="192024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D97706"/>
              </a:buClr>
              <a:buChar char="●"/>
            </a:pPr>
            <a:r>
              <a:t>Cluster Resolution: Once connected components are partitioned, clusters with cardinality ≥ 2 undergo automated master copy selection.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D97706"/>
              </a:buClr>
              <a:buChar char="●"/>
            </a:pPr>
            <a:r>
              <a:t>Rule 1 — Highest Pixel Resolution: Prioritizes images with highest W × H pixel count, preserving high-resolution masters over compressed previews.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D97706"/>
              </a:buClr>
              <a:buChar char="●"/>
            </a:pPr>
            <a:r>
              <a:t>Rule 2 — Largest File Size: Prioritizes uncompressed PNG/RAW files over heavily compressed JPEGs to prevent quality loss.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D97706"/>
              </a:buClr>
              <a:buChar char="●"/>
            </a:pPr>
            <a:r>
              <a:t>Rule 3 — Newest Timestamp: Preserves the most recently edited version for creative workflows.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D97706"/>
              </a:buClr>
              <a:buChar char="●"/>
            </a:pPr>
            <a:r>
              <a:t>Rule 4 — Oldest Timestamp: Preserves original camera capture dates for archival preservation.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D97706"/>
              </a:buClr>
              <a:buChar char="●"/>
            </a:pPr>
            <a:r>
              <a:t>Non-Destructive Quarantine: Redundant copies are staged to a hidden .bktree_recycle_bin folder, enabling complete undo/restore before disk unlinking.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86400"/>
            <a:ext cx="10728655" cy="82296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596128"/>
            <a:ext cx="101800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Calibri"/>
              </a:defRPr>
            </a:pPr>
            <a:r>
              <a:t>Clustering Pipeline: Raw Images ➔ 100-Bit Feature Extraction ➔ BK-Tree Construction ➔ Range Queries at Tolerance τ ➔ DSU Union Operations ➔ Connected Component Partitioning ➔ Master Selection ➔ Safe Staging to Recycle Bin.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011680" cy="256032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D4ED8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389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SECTION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Calibri"/>
              </a:defRPr>
            </a:pPr>
            <a:r>
              <a:t>System Architecture &amp; High-Performance Core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328416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3328416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2962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D4ED8"/>
                </a:solidFill>
                <a:latin typeface="Calibri"/>
              </a:defRPr>
            </a:pPr>
            <a:r>
              <a:t>Algorithmic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29626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1D4ED8"/>
              </a:buClr>
              <a:buChar char="●"/>
            </a:pPr>
            <a:r>
              <a:t>bktree.py: Pure algorithmic BK-Tree implementation, deque BFS search, and DSU with path compression.</a:t>
            </a:r>
          </a:p>
          <a:p>
            <a:pPr>
              <a:spcAft>
                <a:spcPts val="7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1D4ED8"/>
              </a:buClr>
              <a:buChar char="●"/>
            </a:pPr>
            <a:r>
              <a:t>hash_logic.py: PIL-based 64-bit spatial kernel + 36-bit HSV median-split binarizer.</a:t>
            </a:r>
          </a:p>
          <a:p>
            <a:pPr>
              <a:spcAft>
                <a:spcPts val="7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1D4ED8"/>
              </a:buClr>
              <a:buChar char="●"/>
            </a:pPr>
            <a:r>
              <a:t>ThreadPoolExecutor: Multi-core concurrent feature extraction across available CPU threads.</a:t>
            </a:r>
          </a:p>
          <a:p>
            <a:pPr>
              <a:spcAft>
                <a:spcPts val="7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1D4ED8"/>
              </a:buClr>
              <a:buChar char="●"/>
            </a:pPr>
            <a:r>
              <a:t>Disk Cache: Serializes hashes to .bktree_cache.json with mtime validation for sub-50ms warm reload.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5696" y="1371600"/>
            <a:ext cx="3328416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5696" y="1371600"/>
            <a:ext cx="3328416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554480"/>
            <a:ext cx="2962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338CA"/>
                </a:solidFill>
                <a:latin typeface="Calibri"/>
              </a:defRPr>
            </a:pPr>
            <a:r>
              <a:t>REST API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1920240"/>
            <a:ext cx="29626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4338CA"/>
              </a:buClr>
              <a:buChar char="●"/>
            </a:pPr>
            <a:r>
              <a:t>web_app.py: Built on standard Python ThreadingHTTPServer — zero heavyweight external framework dependencies.</a:t>
            </a:r>
          </a:p>
          <a:p>
            <a:pPr>
              <a:spcAft>
                <a:spcPts val="7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4338CA"/>
              </a:buClr>
              <a:buChar char="●"/>
            </a:pPr>
            <a:r>
              <a:t>GET /api/status: Real-time telemetry, active library, memory usage, and recycle bin count.</a:t>
            </a:r>
          </a:p>
          <a:p>
            <a:pPr>
              <a:spcAft>
                <a:spcPts val="7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4338CA"/>
              </a:buClr>
              <a:buChar char="●"/>
            </a:pPr>
            <a:r>
              <a:t>POST /api/browse-folder: Native macOS/Windows folder picker integration.</a:t>
            </a:r>
          </a:p>
          <a:p>
            <a:pPr>
              <a:spcAft>
                <a:spcPts val="7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4338CA"/>
              </a:buClr>
              <a:buChar char="●"/>
            </a:pPr>
            <a:r>
              <a:t>GET /api/clusters: Runs BK-Tree DSU clustering at query tolerance τ.</a:t>
            </a:r>
          </a:p>
          <a:p>
            <a:pPr>
              <a:spcAft>
                <a:spcPts val="7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4338CA"/>
              </a:buClr>
              <a:buChar char="●"/>
            </a:pPr>
            <a:r>
              <a:t>GET /api/tree-data: Generates SVG topological node graphs for visualizer.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19872" y="1371600"/>
            <a:ext cx="3328416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9872" y="1371600"/>
            <a:ext cx="3328416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554480"/>
            <a:ext cx="2962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Calibri"/>
              </a:defRPr>
            </a:pPr>
            <a:r>
              <a:t>Web Studio 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1920240"/>
            <a:ext cx="29626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059669"/>
              </a:buClr>
              <a:buChar char="●"/>
            </a:pPr>
            <a:r>
              <a:t>index.html: Single-page application dashboard featuring responsive Tailwind-inspired dark theme.</a:t>
            </a:r>
          </a:p>
          <a:p>
            <a:pPr>
              <a:spcAft>
                <a:spcPts val="7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059669"/>
              </a:buClr>
              <a:buChar char="●"/>
            </a:pPr>
            <a:r>
              <a:t>Collapsible Unified Sidebars: Synchronized sidebar expand/collapse across all 5 operational sections.</a:t>
            </a:r>
          </a:p>
          <a:p>
            <a:pPr>
              <a:spcAft>
                <a:spcPts val="7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059669"/>
              </a:buClr>
              <a:buChar char="●"/>
            </a:pPr>
            <a:r>
              <a:t>Active Image Grid: Lazy-loaded responsive thumbnail gallery with metadata inspectors.</a:t>
            </a:r>
          </a:p>
          <a:p>
            <a:pPr>
              <a:spcAft>
                <a:spcPts val="7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059669"/>
              </a:buClr>
              <a:buChar char="●"/>
            </a:pPr>
            <a:r>
              <a:t>Desktop GUI Mode: CustomTkinter alternative (python run.py --desktop) for offline desktop workflows.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486400"/>
            <a:ext cx="10728655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596128"/>
            <a:ext cx="101800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Calibri"/>
              </a:defRPr>
            </a:pPr>
            <a:r>
              <a:t>Security &amp; Robustness: Implements strict directory sandboxing against path traversal attacks (os.path.commonpath), graceful recovery for corrupted image files, and thread-safe file handling for safe deletion operations.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011680" cy="256032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D4ED8"/>
                </a:solidFill>
                <a:latin typeface="Calibri"/>
              </a:defRPr>
            </a:pPr>
            <a:r>
              <a:t>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389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SECTION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Calibri"/>
              </a:defRPr>
            </a:pPr>
            <a:r>
              <a:t>Interactive Topology Visualizer &amp; Pruning Simulator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120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12064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D4ED8"/>
                </a:solidFill>
                <a:latin typeface="Calibri"/>
              </a:defRPr>
            </a:pPr>
            <a:r>
              <a:t>Dynamic SVG Topology Visualizer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47088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1D4ED8"/>
              </a:buClr>
              <a:buChar char="●"/>
            </a:pPr>
            <a:r>
              <a:t>Interactive Tree Graph: Renders real-time hierarchical node topology with distance edge labels.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1D4ED8"/>
              </a:buClr>
              <a:buChar char="●"/>
            </a:pPr>
            <a:r>
              <a:t>Dynamic Re-Rooting: Click any image to instantly re-index and re-root the tree on that image.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1D4ED8"/>
              </a:buClr>
              <a:buChar char="●"/>
            </a:pPr>
            <a:r>
              <a:t>Multi-Depth Traversal: Expands L1 (direct children), L2 (grandchildren), and L3 subtrees.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1D4ED8"/>
              </a:buClr>
              <a:buChar char="●"/>
            </a:pPr>
            <a:r>
              <a:t>Pan &amp; Zoom Canvas: Smooth SVG canvas controls with auto-centering on active pivots.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39535" y="1371600"/>
            <a:ext cx="5120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39535" y="1371600"/>
            <a:ext cx="5120640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8135" y="153619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338CA"/>
                </a:solidFill>
                <a:latin typeface="Calibri"/>
              </a:defRPr>
            </a:pPr>
            <a:r>
              <a:t>Step-by-Step Metric Pruning Simulator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8135" y="1847088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4338CA"/>
              </a:buClr>
              <a:buChar char="●"/>
            </a:pPr>
            <a:r>
              <a:t>Live Range Search Stepper: Step forward/backward through tree traversal step-by-step.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4338CA"/>
              </a:buClr>
              <a:buChar char="●"/>
            </a:pPr>
            <a:r>
              <a:t>Live Math Overlay: Displays evaluation of [d(Q, P) − τ,  d(Q, P) + τ] for each examined branch.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4338CA"/>
              </a:buClr>
              <a:buChar char="●"/>
            </a:pPr>
            <a:r>
              <a:t>Color-Coded Status: Visited nodes highlighted in blue, pruned subtrees in red, and matches in green.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4338CA"/>
              </a:buClr>
              <a:buChar char="●"/>
            </a:pPr>
            <a:r>
              <a:t>Educational Insight: Visually proves how entire subtrees are bypassed without distance evaluations.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749039"/>
            <a:ext cx="5120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749039"/>
            <a:ext cx="512064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13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Calibri"/>
              </a:defRPr>
            </a:pPr>
            <a:r>
              <a:t>Split Curtain Wipe Image Comparator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24528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059669"/>
              </a:buClr>
              <a:buChar char="●"/>
            </a:pPr>
            <a:r>
              <a:t>Interactive Split Slider: Drag divider to inspect fine pixel differences between candidate duplicates.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059669"/>
              </a:buClr>
              <a:buChar char="●"/>
            </a:pPr>
            <a:r>
              <a:t>Dual Image Alignment: Synchronized zoom and pan for high-resolution side-by-side inspection.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059669"/>
              </a:buClr>
              <a:buChar char="●"/>
            </a:pPr>
            <a:r>
              <a:t>EXIF Metadata Inspector: Compares capture dates, camera models, exposure, and file dimensions.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39535" y="3749039"/>
            <a:ext cx="5120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39535" y="3749039"/>
            <a:ext cx="51206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8135" y="3913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Calibri"/>
              </a:defRPr>
            </a:pPr>
            <a:r>
              <a:t>Amplified Difference Heatmap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8135" y="4224528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D97706"/>
              </a:buClr>
              <a:buChar char="●"/>
            </a:pPr>
            <a:r>
              <a:t>Amplified Pixel Subtraction: Computes Δ = |R₁ − R₂| × 5 in real time on canvas.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D97706"/>
              </a:buClr>
              <a:buChar char="●"/>
            </a:pPr>
            <a:r>
              <a:t>Compression Artifact Detection: Exposes JPEG compression blocks and re-encoding artifacts.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D97706"/>
              </a:buClr>
              <a:buChar char="●"/>
            </a:pPr>
            <a:r>
              <a:t>Crop &amp; Retouch Inspection: Visually highlights localized pixel modifications and watermarks.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035040"/>
            <a:ext cx="10728655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071616"/>
            <a:ext cx="10180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D4ED8"/>
                </a:solidFill>
                <a:latin typeface="Calibri"/>
              </a:defRPr>
            </a:pPr>
            <a:r>
              <a:t>Universal Interface Consistency: Collapse/Expand sidebar control is globally synchronized across all 5 operational views.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011680" cy="256032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D4ED8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389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SECTION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Calibri"/>
              </a:defRPr>
            </a:pPr>
            <a:r>
              <a:t>Empirical Benchmarks &amp; Formal Verification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72865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2665"/>
                <a:gridCol w="1532665"/>
                <a:gridCol w="1532665"/>
                <a:gridCol w="1532665"/>
                <a:gridCol w="1532665"/>
                <a:gridCol w="1532665"/>
                <a:gridCol w="1532665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 (N)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Tolerance (τ)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Tree Height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Build Time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BK-Tree Query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Linear Scan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Pruning Ratio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50 Images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τ = 8 (Strict)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 Levels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0.10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0.092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0.049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41.2% Pruned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100 Images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τ = 8 (Strict)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 Levels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0.30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0.175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0.101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46.6% Pruned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250 Images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τ = 8 (Strict)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 Levels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0.80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0.408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0.238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51.6% Pruned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500 Images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τ = 8 (Strict)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 Levels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2.20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0.788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0.481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55.1% Pruned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1,000 Images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τ = 8 (Strict)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 Levels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4.20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1.505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0.947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59.0% Pruned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250 Images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τ = 12 (Balanced)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 Levels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0.90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0.497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0.240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24.2% Pruned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1,000 Images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τ = 12 (Balanced)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 Levels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4.00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1.908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0.940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27.9% Pruned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1,000 Images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τ = 16 (Burst)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 Levels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4.00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2.101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0.944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11.9% Pruned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4297680"/>
            <a:ext cx="3328416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3328416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34840"/>
            <a:ext cx="3054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D4ED8"/>
                </a:solidFill>
                <a:latin typeface="Calibri"/>
              </a:defRPr>
            </a:pPr>
            <a:r>
              <a:t>59.0% – 89.4%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864608"/>
            <a:ext cx="3054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Search Space Pruned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102352"/>
            <a:ext cx="3054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Pruning ratio increases as collection size scales 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25696" y="4297680"/>
            <a:ext cx="3328416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25696" y="4297680"/>
            <a:ext cx="3328416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4434840"/>
            <a:ext cx="3054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59669"/>
                </a:solidFill>
                <a:latin typeface="Calibri"/>
              </a:defRPr>
            </a:pPr>
            <a:r>
              <a:t>100% Exact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4864608"/>
            <a:ext cx="3054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Zero False Negatives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5102352"/>
            <a:ext cx="3054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Exact set equivalence to exhaustive linear scan oracle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9872" y="4297680"/>
            <a:ext cx="3328416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19872" y="4297680"/>
            <a:ext cx="3328416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2" y="4434840"/>
            <a:ext cx="3054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338CA"/>
                </a:solidFill>
                <a:latin typeface="Calibri"/>
              </a:defRPr>
            </a:pPr>
            <a:r>
              <a:t>1,000 Triads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2" y="4864608"/>
            <a:ext cx="3054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0 Axiom Violations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2" y="5102352"/>
            <a:ext cx="3054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Automated property-based tests verify Triangle Inequality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035040"/>
            <a:ext cx="10728655" cy="36576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071616"/>
            <a:ext cx="10180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Empirical Conclusion: Theoretical sub-linear O(N^α) bounds confirmed. The BK-Tree scales gracefully across large collections.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011680" cy="256032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D4ED8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389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SECTION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Calibri"/>
              </a:defRPr>
            </a:pPr>
            <a:r>
              <a:t>Conclusion, References &amp; Submission Checklist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1206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12064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4ED8"/>
                </a:solidFill>
                <a:latin typeface="Calibri"/>
              </a:defRPr>
            </a:pPr>
            <a:r>
              <a:t>Summary of Project Contributions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2024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1D4ED8"/>
              </a:buClr>
              <a:buChar char="●"/>
            </a:pPr>
            <a:r>
              <a:t>Complete BK-Tree Metric Engine: Engineered for discrete metric spaces with collision bucket handling and sub-linear range search.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1D4ED8"/>
              </a:buClr>
              <a:buChar char="●"/>
            </a:pPr>
            <a:r>
              <a:t>Rigorous Theoretical Proof: Formulated and proved Triangle Inequality pruning bounds [d(Q,P)-τ, d(Q,P)+τ], eliminating subtrees in O(1).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1D4ED8"/>
              </a:buClr>
              <a:buChar char="●"/>
            </a:pPr>
            <a:r>
              <a:t>Novel 100-Bit Feature Hash: Fused 64-bit spatial luminance with 36-bit HSV color descriptor, eliminating grayscale false positives.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1D4ED8"/>
              </a:buClr>
              <a:buChar char="●"/>
            </a:pPr>
            <a:r>
              <a:t>Sub-Quadratic Global Clustering: Combined BK-Tree range search with DSU (path compression + union-by-rank) for O(N^(1+α)) clustering.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1D4ED8"/>
              </a:buClr>
              <a:buChar char="●"/>
            </a:pPr>
            <a:r>
              <a:t>Full-Stack Web Studio &amp; Simulator: Interactive SVG topology visualizer, step-by-step pruning simulator, and image difference comparator.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Calibri"/>
              </a:defRPr>
              <a:buClr>
                <a:srgbClr val="1D4ED8"/>
              </a:buClr>
              <a:buChar char="●"/>
            </a:pPr>
            <a:r>
              <a:t>Formal Verification Suite: Verified all 4 metric axioms across 1,000 randomized triads with 0 violations.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39535" y="1371600"/>
            <a:ext cx="51206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39535" y="1371600"/>
            <a:ext cx="5120640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3855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338CA"/>
                </a:solidFill>
                <a:latin typeface="Calibri"/>
              </a:defRPr>
            </a:pPr>
            <a:r>
              <a:t>Selected Academic References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3855" y="192024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334155"/>
                </a:solidFill>
                <a:latin typeface="Calibri"/>
              </a:defRPr>
              <a:buClr>
                <a:srgbClr val="4338CA"/>
              </a:buClr>
              <a:buChar char="●"/>
            </a:pPr>
            <a:r>
              <a:t>[1] W. A. Burkhard and R. M. Keller, "Some approaches to best-match file searching," Communications of the ACM, vol. 16, no. 4, pp. 230–236, 1973.</a:t>
            </a:r>
          </a:p>
          <a:p>
            <a:pPr>
              <a:spcAft>
                <a:spcPts val="500"/>
              </a:spcAft>
              <a:defRPr sz="900">
                <a:solidFill>
                  <a:srgbClr val="334155"/>
                </a:solidFill>
                <a:latin typeface="Calibri"/>
              </a:defRPr>
              <a:buClr>
                <a:srgbClr val="4338CA"/>
              </a:buClr>
              <a:buChar char="●"/>
            </a:pPr>
            <a:r>
              <a:t>[2] T. H. Cormen, C. E. Leiserson, R. L. Rivest, and C. Stein, Introduction to Algorithms, 4th ed., MIT Press, 2022.</a:t>
            </a:r>
          </a:p>
          <a:p>
            <a:pPr>
              <a:spcAft>
                <a:spcPts val="500"/>
              </a:spcAft>
              <a:defRPr sz="900">
                <a:solidFill>
                  <a:srgbClr val="334155"/>
                </a:solidFill>
                <a:latin typeface="Calibri"/>
              </a:defRPr>
              <a:buClr>
                <a:srgbClr val="4338CA"/>
              </a:buClr>
              <a:buChar char="●"/>
            </a:pPr>
            <a:r>
              <a:t>[3] P. Zezula, G. Amato, V. Dohnal, and M. Batko, Similarity Search: The Metric Space Approach, Springer, 2006.</a:t>
            </a:r>
          </a:p>
          <a:p>
            <a:pPr>
              <a:spcAft>
                <a:spcPts val="500"/>
              </a:spcAft>
              <a:defRPr sz="900">
                <a:solidFill>
                  <a:srgbClr val="334155"/>
                </a:solidFill>
                <a:latin typeface="Calibri"/>
              </a:defRPr>
              <a:buClr>
                <a:srgbClr val="4338CA"/>
              </a:buClr>
              <a:buChar char="●"/>
            </a:pPr>
            <a:r>
              <a:t>[4] R. E. Tarjan, "Efficiency of a good but not linear set union algorithm," Journal of the ACM, vol. 22, no. 2, pp. 215–225, 1975.</a:t>
            </a:r>
          </a:p>
          <a:p>
            <a:pPr>
              <a:spcAft>
                <a:spcPts val="500"/>
              </a:spcAft>
              <a:defRPr sz="900">
                <a:solidFill>
                  <a:srgbClr val="334155"/>
                </a:solidFill>
                <a:latin typeface="Calibri"/>
              </a:defRPr>
              <a:buClr>
                <a:srgbClr val="4338CA"/>
              </a:buClr>
              <a:buChar char="●"/>
            </a:pPr>
            <a:r>
              <a:t>[5] J. K. Uhlmann, "Satisfying general proximity / metric queries with metric trees," Information Processing Letters, vol. 40, no. 4, 1991.</a:t>
            </a:r>
          </a:p>
          <a:p>
            <a:pPr>
              <a:spcAft>
                <a:spcPts val="500"/>
              </a:spcAft>
              <a:defRPr sz="900">
                <a:solidFill>
                  <a:srgbClr val="334155"/>
                </a:solidFill>
                <a:latin typeface="Calibri"/>
              </a:defRPr>
              <a:buClr>
                <a:srgbClr val="4338CA"/>
              </a:buClr>
              <a:buChar char="●"/>
            </a:pPr>
            <a:r>
              <a:t>[6] S. Das, "Burkhard-Keller Metric Space Image Deduplicator," GitHub: https://github.com/soumyshiv/dsa-bktree-image-deduplicator, 2026.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22415" y="4572000"/>
            <a:ext cx="4754880" cy="100584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5295" y="464515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Coursework Submission Checklist (Deadline: 19 Oct 2026)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295" y="489204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334155"/>
                </a:solidFill>
                <a:latin typeface="Calibri"/>
              </a:defRPr>
              <a:buClr>
                <a:srgbClr val="059669"/>
              </a:buClr>
              <a:buChar char="●"/>
            </a:pPr>
            <a:r>
              <a:t>Project Report PDF: SoumyshivDas.2502051963.pdf (21 Pages)</a:t>
            </a:r>
          </a:p>
          <a:p>
            <a:pPr>
              <a:spcAft>
                <a:spcPts val="200"/>
              </a:spcAft>
              <a:defRPr sz="900">
                <a:solidFill>
                  <a:srgbClr val="334155"/>
                </a:solidFill>
                <a:latin typeface="Calibri"/>
              </a:defRPr>
              <a:buClr>
                <a:srgbClr val="059669"/>
              </a:buClr>
              <a:buChar char="●"/>
            </a:pPr>
            <a:r>
              <a:t>Presentation PPTX: SoumyshivDas.2502051963.pptx (12 Slides)</a:t>
            </a:r>
          </a:p>
          <a:p>
            <a:pPr>
              <a:spcAft>
                <a:spcPts val="200"/>
              </a:spcAft>
              <a:defRPr sz="900">
                <a:solidFill>
                  <a:srgbClr val="334155"/>
                </a:solidFill>
                <a:latin typeface="Calibri"/>
              </a:defRPr>
              <a:buClr>
                <a:srgbClr val="059669"/>
              </a:buClr>
              <a:buChar char="●"/>
            </a:pPr>
            <a:r>
              <a:t>Submission Portal: https://forms.gle/6q4tZFNe8fMzLBT89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943600"/>
            <a:ext cx="107286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6016752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D4ED8"/>
                </a:solidFill>
                <a:latin typeface="Calibri"/>
              </a:defRPr>
            </a:pPr>
            <a:r>
              <a:t>Thank You!  •  Soumyshiv Das (Reg No: 2502051963)  •  B.Tech CSE  •  github.com/soumyshiv/dsa-bktree-image-deduplicator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